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2404e6faf2483b" /><Relationship Type="http://schemas.openxmlformats.org/officeDocument/2006/relationships/extended-properties" Target="/docProps/app.xml" Id="R4ee7d73db2944212" /><Relationship Type="http://schemas.openxmlformats.org/officeDocument/2006/relationships/officeDocument" Target="/ppt/presentation.xml" Id="R96d6b52ebe0b49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8b9018914a4c8d"/>
  </p:sldMasterIdLst>
  <p:notesMasterIdLst>
    <p:notesMasterId xmlns:r="http://schemas.openxmlformats.org/officeDocument/2006/relationships" r:id="Re4da71eaac5c4ba7"/>
  </p:notesMasterIdLst>
  <p:sldIdLst>
    <p:sldId xmlns:r="http://schemas.openxmlformats.org/officeDocument/2006/relationships" id="256" r:id="R09ddcf8431444ab2"/>
  </p:sldIdLst>
  <p:sldSz cx="7559675" cy="1069149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3c3d443a8e4c7f" /><Relationship Type="http://schemas.openxmlformats.org/officeDocument/2006/relationships/slideMaster" Target="/ppt/slideMasters/slideMaster1.xml" Id="Rcd8b9018914a4c8d" /><Relationship Type="http://schemas.openxmlformats.org/officeDocument/2006/relationships/notesMaster" Target="/ppt/notesMasters/notesMaster1.xml" Id="Re4da71eaac5c4ba7" /><Relationship Type="http://schemas.openxmlformats.org/officeDocument/2006/relationships/presProps" Target="/ppt/presProps.xml" Id="Rfa71eb3fc6234af9" /><Relationship Type="http://schemas.openxmlformats.org/officeDocument/2006/relationships/viewProps" Target="/ppt/viewProps.xml" Id="R35ee4403c2364f6a" /><Relationship Type="http://schemas.openxmlformats.org/officeDocument/2006/relationships/tableStyles" Target="/ppt/tableStyles.xml" Id="R6722bb7178db477d" /><Relationship Type="http://schemas.openxmlformats.org/officeDocument/2006/relationships/slide" Target="/ppt/slides/slide1.xml" Id="R09ddcf8431444a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e8572f2ba246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738fdc930a4356" /><Relationship Type="http://schemas.openxmlformats.org/officeDocument/2006/relationships/notesMaster" Target="/ppt/notesMasters/notesMaster1.xml" Id="R5736dcbbd84745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7f6596613744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bfaf88d04b49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f9ce4856e04d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8000ff72f45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e2f6ab937949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2a39de489f4c4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d4248c09ac405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b01a3df15a4c7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93fa3ce1b474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cf1181624416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5b8339cb4479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A424F5-CD8B-4390-AEF9-C1C4AB68E1D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45000" y="1749907"/>
            <a:ext cx="5670000" cy="3722573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496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A8D2CA-6C2D-4025-AD2A-1A0EB88664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45000" y="5616036"/>
            <a:ext cx="5670000" cy="2581544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985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89760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3870" indent="0" algn="ctr">
              <a:buNone/>
              <a:defRPr sz="1325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AE3E0A-05E7-4FA2-8EF3-F37BF74EBE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92A2232-E699-44E4-8FAD-B4FE890BFD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A25DAB-CF90-4E7C-BE1A-64E491D67F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748E87-EAEC-4C6C-8464-945279F6C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867977-4608-4EDA-93F3-90D33E94493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992A09-358A-4516-84FF-C5BC8789AF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C00BB4-C189-4ED8-BEEC-5C2089FC65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2268B4-4A2F-47DF-8323-29B673F6B8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66945C-FCA7-44B9-B784-B7D8FDECD5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5812" y="2665699"/>
            <a:ext cx="6520500" cy="444778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496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B0F6A1-64DF-4258-B4BE-02E9197CC8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5812" y="7155558"/>
            <a:ext cx="6520500" cy="233898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8976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387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9298F3-CC95-4873-80B8-B1C1CA42DA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581EE0-9F3A-42D1-A18E-F9EAA4731F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A43E50-821C-4EDD-83C1-9E2B74B640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32ECEC-0F80-4052-983A-E98DC9DADD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4A29F9-6596-4450-97E1-4FFEB964D5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9750" y="2846382"/>
            <a:ext cx="3213000" cy="67842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1ACAD43-3110-4261-AE4C-3359D9B8FB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827250" y="2846382"/>
            <a:ext cx="3213000" cy="67842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7C28F35-4DD0-4A34-878E-E2DA34089B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CAC3C2A-DBAA-4770-B500-8F9A67939A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259D336-5712-4B2C-B987-9DB2EC3BC3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956832-27D4-417E-835C-6F024E04A8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0735" y="569276"/>
            <a:ext cx="6520500" cy="20667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8D99AAB-5E55-468C-9422-52E202701D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20735" y="2621147"/>
            <a:ext cx="3198234" cy="1284584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89760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3870" indent="0">
              <a:buNone/>
              <a:defRPr sz="1325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160D619-701E-4DC3-A02C-8BE5B7B0DDF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20735" y="3905731"/>
            <a:ext cx="3198234" cy="574474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8718A46-3CAD-40B5-88BB-EB553F5A54F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827250" y="2621147"/>
            <a:ext cx="3213985" cy="1284584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89760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3870" indent="0">
              <a:buNone/>
              <a:defRPr sz="1325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08B0931-CA22-48EE-96DF-CA5EF413A8A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3827250" y="3905731"/>
            <a:ext cx="3213985" cy="574474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13E2FAA-53E7-4AEE-A322-E8C8AF2A2E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D375CBD-11CD-4AC9-B5F5-75A182FD67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36F557-E035-451C-A3BE-626BD9A887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C88B71-C962-47CD-982F-F8E3F21C58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A7CA2B7-E63D-41C1-BFDE-3D6FDA74BA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D736455-8F77-43BD-92DD-3040BE45AA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99ACF3C-A28C-46C8-95BF-03691D035C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C695511-ACBD-4F1B-B5F0-197F2A5233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04866F9-F089-4FC6-9F3A-0A61D5CB08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1326693-EC47-4DBA-80BD-916E09D84B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635E3D-A1EA-490A-9817-35486C044A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0735" y="712833"/>
            <a:ext cx="2438297" cy="2494916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645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126B2C0-2FF5-4294-A0C7-EC17EE07D4A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213985" y="1539521"/>
            <a:ext cx="3827250" cy="759860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45"/>
            </a:lvl1pPr>
            <a:lvl2pPr>
              <a:buNone/>
              <a:defRPr sz="2315"/>
            </a:lvl2pPr>
            <a:lvl3pPr>
              <a:buNone/>
              <a:defRPr sz="1985"/>
            </a:lvl3pPr>
            <a:lvl4pPr>
              <a:buNone/>
              <a:defRPr sz="1655"/>
            </a:lvl4pPr>
            <a:lvl5pPr>
              <a:buNone/>
              <a:defRPr sz="1655"/>
            </a:lvl5pPr>
            <a:lvl6pPr>
              <a:buNone/>
              <a:defRPr sz="1655"/>
            </a:lvl6pPr>
            <a:lvl7pPr>
              <a:buNone/>
              <a:defRPr sz="1655"/>
            </a:lvl7pPr>
            <a:lvl8pPr>
              <a:buNone/>
              <a:defRPr sz="1655"/>
            </a:lvl8pPr>
            <a:lvl9pPr>
              <a:buNone/>
              <a:defRPr sz="1655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D6B0332-2B54-427A-809A-22D429610F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20735" y="3207749"/>
            <a:ext cx="2438297" cy="594275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325"/>
            </a:lvl1pPr>
            <a:lvl2pPr marL="377825" indent="0">
              <a:buNone/>
              <a:defRPr sz="1155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89760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3870" indent="0">
              <a:buNone/>
              <a:defRPr sz="825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1EBED1-DC83-48D2-AE82-73598A3F0E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279E8A3-E2A2-43CA-92E2-4D663942D4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BB29401-7AD4-4E5A-B0A2-34151F6865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688D5B6-9FB0-498C-A929-B8FAD91D20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0735" y="712833"/>
            <a:ext cx="2438297" cy="2494916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645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9A363BB-E867-4F88-8689-2F416B4A80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213985" y="1539521"/>
            <a:ext cx="3827250" cy="759860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89760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3870" indent="0">
              <a:buNone/>
              <a:defRPr sz="1655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5023A4C-61B2-46F9-9CAE-579C4422B2C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20735" y="3207749"/>
            <a:ext cx="2438297" cy="594275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325"/>
            </a:lvl1pPr>
            <a:lvl2pPr marL="377825" indent="0">
              <a:buNone/>
              <a:defRPr sz="1155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89760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3870" indent="0">
              <a:buNone/>
              <a:defRPr sz="825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BB489E9-0AE3-4202-8FF1-82469A65B4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CE98B18-7360-4373-91FD-4BE6973089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B477B1-2B28-47D3-A020-25D9528B8A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F01D31-E78D-4619-B848-998AD6E724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4D7CF5-D0B4-4901-9713-F2B380DAAC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9D10D50-4FDF-469E-B36B-04CD67C449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0B15450-0595-4311-B00E-9F47AEBF38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9A339E-429C-47F6-8EA5-F8AC53AAA4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D98EAA6-0C58-4201-8B38-E675249529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10125" y="569276"/>
            <a:ext cx="1630125" cy="9061396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351F63-7FB0-4F3D-B165-DCAF71039F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9750" y="569276"/>
            <a:ext cx="4795875" cy="9061396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E86AC15-7AB4-4D83-8425-FC9843CAB8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80C133-B706-4DCB-B3D1-253E8E307F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FD5CF03-3692-4CD3-92D1-171F2190ED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820b89cf934b6e" /><Relationship Type="http://schemas.openxmlformats.org/officeDocument/2006/relationships/slideLayout" Target="/ppt/slideLayouts/slideLayout1.xml" Id="R0480459336cc46f3" /><Relationship Type="http://schemas.openxmlformats.org/officeDocument/2006/relationships/slideLayout" Target="/ppt/slideLayouts/slideLayout2.xml" Id="Rf3027c4cb5024c70" /><Relationship Type="http://schemas.openxmlformats.org/officeDocument/2006/relationships/slideLayout" Target="/ppt/slideLayouts/slideLayout3.xml" Id="R08c29e5ccb964900" /><Relationship Type="http://schemas.openxmlformats.org/officeDocument/2006/relationships/slideLayout" Target="/ppt/slideLayouts/slideLayout4.xml" Id="Rd856aa1dadbe479d" /><Relationship Type="http://schemas.openxmlformats.org/officeDocument/2006/relationships/slideLayout" Target="/ppt/slideLayouts/slideLayout5.xml" Id="Recafd080e3d1440e" /><Relationship Type="http://schemas.openxmlformats.org/officeDocument/2006/relationships/slideLayout" Target="/ppt/slideLayouts/slideLayout6.xml" Id="R912b4c4c5e9a4368" /><Relationship Type="http://schemas.openxmlformats.org/officeDocument/2006/relationships/slideLayout" Target="/ppt/slideLayouts/slideLayout7.xml" Id="Rce2e991ff0af4278" /><Relationship Type="http://schemas.openxmlformats.org/officeDocument/2006/relationships/slideLayout" Target="/ppt/slideLayouts/slideLayout8.xml" Id="R5cba07923d3c4f40" /><Relationship Type="http://schemas.openxmlformats.org/officeDocument/2006/relationships/slideLayout" Target="/ppt/slideLayouts/slideLayout9.xml" Id="Rcf333a5bafe14630" /><Relationship Type="http://schemas.openxmlformats.org/officeDocument/2006/relationships/slideLayout" Target="/ppt/slideLayouts/slideLayout10.xml" Id="Rcd8bea8c647b46e4" /><Relationship Type="http://schemas.openxmlformats.org/officeDocument/2006/relationships/slideLayout" Target="/ppt/slideLayouts/slideLayout11.xml" Id="R7b43510eccce4d5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E68F50A-ED66-48D1-91B4-2D2D0E30C0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9750" y="569276"/>
            <a:ext cx="6520500" cy="20667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D55D4F-7F30-4CFE-BBD3-AFDD700B87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9750" y="2846382"/>
            <a:ext cx="6520500" cy="67842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C355F5C-2B44-4B6E-9EF7-7B4AEEAB55C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519750" y="9910359"/>
            <a:ext cx="1701000" cy="5692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F12BEFB-B274-47DC-8A63-F4436178E36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504250" y="9910359"/>
            <a:ext cx="2551500" cy="5692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E60886-59C6-441F-8862-FFDB0D26B4B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5339250" y="9910359"/>
            <a:ext cx="1701000" cy="5692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80459336cc46f3"/>
    <p:sldLayoutId xmlns:r="http://schemas.openxmlformats.org/officeDocument/2006/relationships" id="2147483650" r:id="Rf3027c4cb5024c70"/>
    <p:sldLayoutId xmlns:r="http://schemas.openxmlformats.org/officeDocument/2006/relationships" id="2147483651" r:id="R08c29e5ccb964900"/>
    <p:sldLayoutId xmlns:r="http://schemas.openxmlformats.org/officeDocument/2006/relationships" id="2147483652" r:id="Rd856aa1dadbe479d"/>
    <p:sldLayoutId xmlns:r="http://schemas.openxmlformats.org/officeDocument/2006/relationships" id="2147483653" r:id="Recafd080e3d1440e"/>
    <p:sldLayoutId xmlns:r="http://schemas.openxmlformats.org/officeDocument/2006/relationships" id="2147483654" r:id="R912b4c4c5e9a4368"/>
    <p:sldLayoutId xmlns:r="http://schemas.openxmlformats.org/officeDocument/2006/relationships" id="2147483655" r:id="Rce2e991ff0af4278"/>
    <p:sldLayoutId xmlns:r="http://schemas.openxmlformats.org/officeDocument/2006/relationships" id="2147483656" r:id="R5cba07923d3c4f40"/>
    <p:sldLayoutId xmlns:r="http://schemas.openxmlformats.org/officeDocument/2006/relationships" id="2147483657" r:id="Rcf333a5bafe14630"/>
    <p:sldLayoutId xmlns:r="http://schemas.openxmlformats.org/officeDocument/2006/relationships" id="2147483658" r:id="Rcd8bea8c647b46e4"/>
    <p:sldLayoutId xmlns:r="http://schemas.openxmlformats.org/officeDocument/2006/relationships" id="2147483659" r:id="R7b43510eccce4d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364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89230" indent="-189230" algn="l">
        <a:lnSpc>
          <a:spcPct val="90000"/>
        </a:lnSpc>
        <a:spcBef>
          <a:spcPts val="0"/>
        </a:spcBef>
        <a:buChar char="•"/>
        <a:defRPr sz="2315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67055" indent="-189230" algn="l">
        <a:lnSpc>
          <a:spcPct val="90000"/>
        </a:lnSpc>
        <a:spcBef>
          <a:spcPts val="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44880" indent="-189230" algn="l">
        <a:lnSpc>
          <a:spcPct val="90000"/>
        </a:lnSpc>
        <a:spcBef>
          <a:spcPts val="0"/>
        </a:spcBef>
        <a:buChar char="•"/>
        <a:defRPr sz="1655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22705" indent="-189230" algn="l">
        <a:lnSpc>
          <a:spcPct val="90000"/>
        </a:lnSpc>
        <a:spcBef>
          <a:spcPts val="0"/>
        </a:spcBef>
        <a:buChar char="•"/>
        <a:defRPr sz="149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01165" indent="-189230" algn="l">
        <a:lnSpc>
          <a:spcPct val="90000"/>
        </a:lnSpc>
        <a:spcBef>
          <a:spcPts val="0"/>
        </a:spcBef>
        <a:buChar char="•"/>
        <a:defRPr sz="149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078990" indent="-189230" algn="l">
        <a:lnSpc>
          <a:spcPct val="90000"/>
        </a:lnSpc>
        <a:spcBef>
          <a:spcPts val="0"/>
        </a:spcBef>
        <a:buChar char="•"/>
        <a:defRPr sz="149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456815" indent="-189230" algn="l">
        <a:lnSpc>
          <a:spcPct val="90000"/>
        </a:lnSpc>
        <a:spcBef>
          <a:spcPts val="0"/>
        </a:spcBef>
        <a:buChar char="•"/>
        <a:defRPr sz="149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835275" indent="-189230" algn="l">
        <a:lnSpc>
          <a:spcPct val="90000"/>
        </a:lnSpc>
        <a:spcBef>
          <a:spcPts val="0"/>
        </a:spcBef>
        <a:buChar char="•"/>
        <a:defRPr sz="149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213100" indent="-189230" algn="l">
        <a:lnSpc>
          <a:spcPct val="90000"/>
        </a:lnSpc>
        <a:spcBef>
          <a:spcPts val="0"/>
        </a:spcBef>
        <a:buChar char="•"/>
        <a:defRPr sz="149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49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77825" algn="l">
        <a:buNone/>
        <a:defRPr sz="149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756285" algn="l">
        <a:buNone/>
        <a:defRPr sz="149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134110" algn="l">
        <a:buNone/>
        <a:defRPr sz="149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11935" algn="l">
        <a:buNone/>
        <a:defRPr sz="149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9760" algn="l">
        <a:buNone/>
        <a:defRPr sz="149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68220" algn="l">
        <a:buNone/>
        <a:defRPr sz="149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646045" algn="l">
        <a:buNone/>
        <a:defRPr sz="149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023870" algn="l">
        <a:buNone/>
        <a:defRPr sz="149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53b4c67c04dc1" /><Relationship Type="http://schemas.openxmlformats.org/officeDocument/2006/relationships/image" Target="/ppt/media/image.png" Id="Rca8108863eb3406c" /><Relationship Type="http://schemas.openxmlformats.org/officeDocument/2006/relationships/image" Target="/ppt/media/image2.png" Id="R5a901e73208245c8" /><Relationship Type="http://schemas.openxmlformats.org/officeDocument/2006/relationships/image" Target="/ppt/media/image3.png" Id="R890bdbce1abc4474" /><Relationship Type="http://schemas.openxmlformats.org/officeDocument/2006/relationships/image" Target="/ppt/media/image4.png" Id="R50e3d4c624294122" /><Relationship Type="http://schemas.openxmlformats.org/officeDocument/2006/relationships/image" Target="/ppt/media/image5.png" Id="R57f280c036454b6f" /><Relationship Type="http://schemas.openxmlformats.org/officeDocument/2006/relationships/notesSlide" Target="/ppt/notesSlides/notesSlide1.xml" Id="Rfe68bafa5738459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Rectangle 130">
            <a:extLst xmlns:a="http://schemas.openxmlformats.org/drawingml/2006/main">
              <a:ext uri="{FF2B5EF4-FFF2-40B4-BE49-F238E27FC236}">
                <a16:creationId xmlns:a16="http://schemas.microsoft.com/office/drawing/2014/main" id="{5FFCFE13-4EB7-4CA6-8924-E407B4C1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5" y="7042785"/>
            <a:ext cx="7442835" cy="35725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285750" indent="-285750" algn="ctr">
              <a:buChar char=""/>
            </a:pPr>
          </a:p>
        </p:txBody>
      </p:sp>
      <p:sp>
        <p:nvSpPr>
          <p:cNvPr id="29" name="Rectangle 159">
            <a:extLst xmlns:a="http://schemas.openxmlformats.org/drawingml/2006/main">
              <a:ext uri="{FF2B5EF4-FFF2-40B4-BE49-F238E27FC236}">
                <a16:creationId xmlns:a16="http://schemas.microsoft.com/office/drawing/2014/main" id="{6F6BF216-3994-41B4-A7AB-DC3FD845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870" y="938530"/>
            <a:ext cx="4485005" cy="29749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159">
            <a:extLst xmlns:a="http://schemas.openxmlformats.org/drawingml/2006/main">
              <a:ext uri="{FF2B5EF4-FFF2-40B4-BE49-F238E27FC236}">
                <a16:creationId xmlns:a16="http://schemas.microsoft.com/office/drawing/2014/main" id="{9385A3DA-CECA-4A59-9C7D-76D226A9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5" y="946150"/>
            <a:ext cx="2864485" cy="29692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1" name="Rectangle 130">
            <a:extLst xmlns:a="http://schemas.openxmlformats.org/drawingml/2006/main">
              <a:ext uri="{FF2B5EF4-FFF2-40B4-BE49-F238E27FC236}">
                <a16:creationId xmlns:a16="http://schemas.microsoft.com/office/drawing/2014/main" id="{E867DA82-7B4B-4104-A0E6-E9606D8F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5" y="4009390"/>
            <a:ext cx="7442835" cy="288099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285750" indent="-285750" algn="ctr">
              <a:buChar char=""/>
            </a:pP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6E41AF1A-34F1-495B-B747-FE64DB5F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476" y="120683"/>
            <a:ext cx="495363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25" b="1"/>
              <a:t>基于 UDP 的可靠传输与 AI 拥塞控制</a:t>
            </a:r>
          </a:p>
        </p:txBody>
      </p:sp>
      <p:sp>
        <p:nvSpPr>
          <p:cNvPr id="79" name="TextBox 78">
            <a:extLst xmlns:a="http://schemas.openxmlformats.org/drawingml/2006/main">
              <a:ext uri="{FF2B5EF4-FFF2-40B4-BE49-F238E27FC236}">
                <a16:creationId xmlns:a16="http://schemas.microsoft.com/office/drawing/2014/main" id="{9CCB43DE-0C3E-46CE-A70C-E5F0302B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821" y="607007"/>
            <a:ext cx="22479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/>
            <a:r>
              <a:rPr sz="863">
                <a:solidFill>
                  <a:schemeClr val="bg2">
                    <a:lumMod val="50000"/>
                  </a:schemeClr>
                </a:solidFill>
              </a:rPr>
              <a:t>第 XX 组: Lawrenclia, dumeili114514, gggggs1, liujin</a:t>
            </a:r>
          </a:p>
        </p:txBody>
      </p:sp>
      <p:sp>
        <p:nvSpPr>
          <p:cNvPr id="88" name="Straight Connector 87">
            <a:extLst xmlns:a="http://schemas.openxmlformats.org/drawingml/2006/main">
              <a:ext uri="{FF2B5EF4-FFF2-40B4-BE49-F238E27FC236}">
                <a16:creationId xmlns:a16="http://schemas.microsoft.com/office/drawing/2014/main" id="{DABCD78A-51AE-422B-93E9-C4EA2E09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278" y="888468"/>
            <a:ext cx="7568565" cy="3175"/>
          </a:xfrm>
          <a:prstGeom xmlns:a="http://schemas.openxmlformats.org/drawingml/2006/main" prst="line">
            <a:avLst/>
          </a:prstGeom>
          <a:ln xmlns:a="http://schemas.openxmlformats.org/drawingml/2006/main" w="15875"/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TextBox 89">
            <a:extLst xmlns:a="http://schemas.openxmlformats.org/drawingml/2006/main">
              <a:ext uri="{FF2B5EF4-FFF2-40B4-BE49-F238E27FC236}">
                <a16:creationId xmlns:a16="http://schemas.microsoft.com/office/drawing/2014/main" id="{FFAD47B2-B23F-4E9C-92C5-55C5D55C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5" y="939165"/>
            <a:ext cx="109728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7A1410"/>
                </a:solidFill>
              </a:rPr>
              <a:t>实验目标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7EBE34-937E-4955-AB21-6F31B6B1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40" y="1175385"/>
            <a:ext cx="2981325" cy="11360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915">
                <a:latin typeface="微软雅黑"/>
                <a:ea typeface="微软雅黑"/>
                <a:cs typeface="微软雅黑"/>
              </a:rPr>
              <a:t>1. UDP Payload 封装 SEQ / Timestamp / Payload</a:t>
            </a:r>
          </a:p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915">
                <a:latin typeface="微软雅黑"/>
                <a:ea typeface="微软雅黑"/>
                <a:cs typeface="微软雅黑"/>
              </a:rPr>
              <a:t>2. 实现累计 ACK、RTO 重传、RTT/SRTT 与滑动窗口</a:t>
            </a:r>
          </a:p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915">
                <a:latin typeface="微软雅黑"/>
                <a:ea typeface="微软雅黑"/>
                <a:cs typeface="微软雅黑"/>
              </a:rPr>
              <a:t>3. VirtualLink 模拟排队、溢出丢包与中途带宽减半</a:t>
            </a:r>
          </a:p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915">
                <a:latin typeface="微软雅黑"/>
                <a:ea typeface="微软雅黑"/>
                <a:cs typeface="微软雅黑"/>
              </a:rPr>
              <a:t>4. 对比 AIMD/Q-Learning/DQN，记录 50 轮训练</a:t>
            </a:r>
          </a:p>
        </p:txBody>
      </p:sp>
      <p:pic>
        <p:nvPicPr>
          <p:cNvPr id="13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108863eb340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04635" y="88900"/>
            <a:ext cx="814705" cy="815975"/>
          </a:xfrm>
          <a:prstGeom xmlns:a="http://schemas.openxmlformats.org/drawingml/2006/main" prst="rect">
            <a:avLst/>
          </a:prstGeom>
        </p:spPr>
      </p:pic>
      <p:pic>
        <p:nvPicPr>
          <p:cNvPr id="13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01e73208245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160020" y="88265"/>
            <a:ext cx="1852565" cy="541789"/>
          </a:xfrm>
          <a:prstGeom xmlns:a="http://schemas.openxmlformats.org/drawingml/2006/main" prst="rect">
            <a:avLst/>
          </a:prstGeom>
        </p:spPr>
      </p:pic>
      <p:sp>
        <p:nvSpPr>
          <p:cNvPr id="9" name="TextBox 89">
            <a:extLst xmlns:a="http://schemas.openxmlformats.org/drawingml/2006/main">
              <a:ext uri="{FF2B5EF4-FFF2-40B4-BE49-F238E27FC236}">
                <a16:creationId xmlns:a16="http://schemas.microsoft.com/office/drawing/2014/main" id="{0D87589A-3071-4C51-94A5-EA49E0F0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97" y="551208"/>
            <a:ext cx="1653353" cy="2455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7A1410"/>
                </a:solidFill>
              </a:rPr>
              <a:t>CS3611-2026-Spring</a:t>
            </a:r>
          </a:p>
        </p:txBody>
      </p:sp>
      <p:sp>
        <p:nvSpPr>
          <p:cNvPr id="21" name="TextBox 116">
            <a:extLst xmlns:a="http://schemas.openxmlformats.org/drawingml/2006/main">
              <a:ext uri="{FF2B5EF4-FFF2-40B4-BE49-F238E27FC236}">
                <a16:creationId xmlns:a16="http://schemas.microsoft.com/office/drawing/2014/main" id="{9FCE0CED-1C5B-4D8D-A015-78981986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610" y="4422140"/>
            <a:ext cx="330073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78"/>
              <a:t>系统采用 Sender -&gt; VirtualLink -&gt; Receiver 的应用层闭环。protocol.py 定义报文格式；sender.py 维护 unacked、ACK/RTO、CWND 和学习控制器；receiver.py 处理累计 ACK 与乱序缓存；virtual_link.py 模拟排队、溢出丢包和带宽突变。</a:t>
            </a:r>
          </a:p>
        </p:txBody>
      </p:sp>
      <p:sp>
        <p:nvSpPr>
          <p:cNvPr id="24" name="TextBox 92">
            <a:extLst xmlns:a="http://schemas.openxmlformats.org/drawingml/2006/main">
              <a:ext uri="{FF2B5EF4-FFF2-40B4-BE49-F238E27FC236}">
                <a16:creationId xmlns:a16="http://schemas.microsoft.com/office/drawing/2014/main" id="{5511C63D-0D4B-4194-8219-97BB1EA7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" y="7411117"/>
            <a:ext cx="7044023" cy="657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32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核心方法1: 可靠传输 - UDP 分组封装 SEQ 与 Timestamp；Receiver 返回累计 ACK；Sender 滑动窗口、采样 RTT/SRTT，并按 RTO 或 3 个重复 ACK 重传。</a:t>
            </a:r>
          </a:p>
        </p:txBody>
      </p:sp>
      <p:sp>
        <p:nvSpPr>
          <p:cNvPr id="8" name="TextBox 89">
            <a:extLst xmlns:a="http://schemas.openxmlformats.org/drawingml/2006/main">
              <a:ext uri="{FF2B5EF4-FFF2-40B4-BE49-F238E27FC236}">
                <a16:creationId xmlns:a16="http://schemas.microsoft.com/office/drawing/2014/main" id="{E485948F-EFBA-4820-925D-AF1497F4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042" y="956638"/>
            <a:ext cx="201168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7A1410"/>
                </a:solidFill>
              </a:rPr>
              <a:t>系统功能完成情况</a:t>
            </a:r>
          </a:p>
        </p:txBody>
      </p:sp>
      <p:sp>
        <p:nvSpPr>
          <p:cNvPr id="11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1552E07-6F36-4FBC-A88E-B4B3BE68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905" y="1261110"/>
            <a:ext cx="4337050" cy="1536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915">
                <a:latin typeface="微软雅黑"/>
                <a:ea typeface="微软雅黑"/>
                <a:cs typeface="微软雅黑"/>
              </a:rPr>
              <a:t>除自定义开放题外，已覆盖题目五基础功能：UDP 应用层 Header、累计 ACK、RTO/SRTT、虚拟瓶颈链路、AIMD 基线、Q-Learning 与 matplotlib 可视化。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15"/>
              <a:t>已选扩展完成：带宽中途减半、3 个重复 ACK 快速重传与乱序缓存、DQN 深度强化学习控制器。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915"/>
              <a:t>训练脚本默认 50 轮，使用 tqdm 显示进度，并逐轮输出 throughput/RTT/retx/timeout 与 checkpoint 路径。</a:t>
            </a:r>
          </a:p>
        </p:txBody>
      </p:sp>
      <p:sp>
        <p:nvSpPr>
          <p:cNvPr id="27" name="Straight Connector 87">
            <a:extLst xmlns:a="http://schemas.openxmlformats.org/drawingml/2006/main">
              <a:ext uri="{FF2B5EF4-FFF2-40B4-BE49-F238E27FC236}">
                <a16:creationId xmlns:a16="http://schemas.microsoft.com/office/drawing/2014/main" id="{2B631F74-8219-4A4C-BAC1-57B168F9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278" y="3947263"/>
            <a:ext cx="7568565" cy="3175"/>
          </a:xfrm>
          <a:prstGeom xmlns:a="http://schemas.openxmlformats.org/drawingml/2006/main" prst="line">
            <a:avLst/>
          </a:prstGeom>
          <a:ln xmlns:a="http://schemas.openxmlformats.org/drawingml/2006/main" w="15875"/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Straight Connector 124">
            <a:extLst xmlns:a="http://schemas.openxmlformats.org/drawingml/2006/main">
              <a:ext uri="{FF2B5EF4-FFF2-40B4-BE49-F238E27FC236}">
                <a16:creationId xmlns:a16="http://schemas.microsoft.com/office/drawing/2014/main" id="{2E1963BB-4C08-4E57-8BC7-239C6C56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845" y="891728"/>
            <a:ext cx="0" cy="3058795"/>
          </a:xfrm>
          <a:prstGeom xmlns:a="http://schemas.openxmlformats.org/drawingml/2006/main" prst="line">
            <a:avLst/>
          </a:prstGeom>
          <a:ln xmlns:a="http://schemas.openxmlformats.org/drawingml/2006/main" w="15875"/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C38FB174-9644-48E4-8E04-41C6760F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115" y="3697066"/>
            <a:ext cx="2004646" cy="213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/>
            <a:r>
              <a:rPr sz="863" i="1"/>
              <a:t>CWND、吞吐量与平均 RTT 对比</a:t>
            </a:r>
          </a:p>
        </p:txBody>
      </p:sp>
      <p:sp>
        <p:nvSpPr>
          <p:cNvPr id="30" name="TextBox 89">
            <a:extLst xmlns:a="http://schemas.openxmlformats.org/drawingml/2006/main">
              <a:ext uri="{FF2B5EF4-FFF2-40B4-BE49-F238E27FC236}">
                <a16:creationId xmlns:a16="http://schemas.microsoft.com/office/drawing/2014/main" id="{813E5C6F-B767-49B5-BCA2-CA35BD04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" y="4053533"/>
            <a:ext cx="155448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7A1410"/>
                </a:solidFill>
              </a:rPr>
              <a:t>系统架构设计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BB687910-F894-4A28-BB1C-42E9A536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" y="6590030"/>
            <a:ext cx="3034665" cy="213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3" i="1"/>
              <a:t>应用层 UDP 协议、虚拟瓶颈链路与 ACK 反馈闭环</a:t>
            </a:r>
          </a:p>
        </p:txBody>
      </p:sp>
      <p:sp>
        <p:nvSpPr>
          <p:cNvPr id="33" name="TextBox 89">
            <a:extLst xmlns:a="http://schemas.openxmlformats.org/drawingml/2006/main">
              <a:ext uri="{FF2B5EF4-FFF2-40B4-BE49-F238E27FC236}">
                <a16:creationId xmlns:a16="http://schemas.microsoft.com/office/drawing/2014/main" id="{53697C0B-9261-4AA1-8A37-6B5D02C4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5" y="2311400"/>
            <a:ext cx="109728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7A1410"/>
                </a:solidFill>
              </a:rPr>
              <a:t>小组分工</a:t>
            </a:r>
          </a:p>
        </p:txBody>
      </p:sp>
      <p:graphicFrame>
        <p:nvGraphicFramePr>
          <p:cNvPr id="150" name="Table 118"/>
          <p:cNvGraphicFramePr/>
          <p:nvPr/>
        </p:nvGraphicFramePr>
        <p:xfrm>
          <a:off xmlns:a="http://schemas.openxmlformats.org/drawingml/2006/main" x="172085" y="2679700"/>
          <a:ext xmlns:a="http://schemas.openxmlformats.org/drawingml/2006/main" cx="2741295" cy="105283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460"/>
                <a:gridCol w="1774190"/>
                <a:gridCol w="461645"/>
              </a:tblGrid>
              <a:tr h="2324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90" b="1"/>
                        <a:t>人员</a:t>
                      </a:r>
                    </a:p>
                  </a:txBody>
                  <a:tcPr marL="9525" marR="9525" marT="4763" marB="4763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90" b="1"/>
                        <a:t>负责内容</a:t>
                      </a:r>
                    </a:p>
                  </a:txBody>
                  <a:tcPr marL="9525" marR="9525" marT="4763" marB="4763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90" b="1"/>
                        <a:t>贡献度</a:t>
                      </a:r>
                    </a:p>
                  </a:txBody>
                  <a:tcPr marL="9525" marR="9525" marT="4763" marB="4763"/>
                </a:tc>
              </a:tr>
              <a:tr h="1892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6" b="0"/>
                        <a:t>Lawrenclia</a:t>
                      </a:r>
                    </a:p>
                  </a:txBody>
                  <a:tcPr marL="9525" marR="9525" marT="4763" marB="4763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6" b="0"/>
                        <a:t>协议/ACK/RTO</a:t>
                      </a:r>
                    </a:p>
                    <a:p>
                      <a:pPr algn="ctr">
                        <a:buNone/>
                      </a:pPr>
                      <a:r>
                        <a:rPr sz="326" b="0"/>
                        <a:t>快重传/整合</a:t>
                      </a:r>
                    </a:p>
                  </a:txBody>
                  <a:tcPr marL="9525" marR="9525" marT="4763" marB="4763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6" b="0"/>
                        <a:t>25%</a:t>
                      </a:r>
                    </a:p>
                  </a:txBody>
                  <a:tcPr marL="9525" marR="9525" marT="4763" marB="4763"/>
                </a:tc>
              </a:tr>
              <a:tr h="1695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6" b="0"/>
                        <a:t>dumeili114514</a:t>
                      </a:r>
                    </a:p>
                  </a:txBody>
                  <a:tcPr marL="9525" marR="9525" marT="4763" marB="4763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6" b="0"/>
                        <a:t>Q-Learning</a:t>
                      </a:r>
                    </a:p>
                    <a:p>
                      <a:pPr algn="ctr">
                        <a:buNone/>
                      </a:pPr>
                      <a:r>
                        <a:rPr sz="326" b="0"/>
                        <a:t>AIMD 基线</a:t>
                      </a:r>
                    </a:p>
                  </a:txBody>
                  <a:tcPr marL="9525" marR="9525" marT="4763" marB="4763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6" b="0"/>
                        <a:t>25%</a:t>
                      </a:r>
                    </a:p>
                  </a:txBody>
                  <a:tcPr marL="9525" marR="9525" marT="4763" marB="4763"/>
                </a:tc>
              </a:tr>
              <a:tr h="1695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6" b="0"/>
                        <a:t>gggggs1</a:t>
                      </a:r>
                    </a:p>
                  </a:txBody>
                  <a:tcPr marL="9525" marR="9525" marT="4763" marB="4763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6" b="0"/>
                        <a:t>VirtualLink</a:t>
                      </a:r>
                    </a:p>
                    <a:p>
                      <a:pPr algn="ctr">
                        <a:buNone/>
                      </a:pPr>
                      <a:r>
                        <a:rPr sz="326" b="0"/>
                        <a:t>绘图/文档</a:t>
                      </a:r>
                    </a:p>
                  </a:txBody>
                  <a:tcPr marL="9525" marR="9525" marT="4763" marB="4763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6" b="0"/>
                        <a:t>25%</a:t>
                      </a:r>
                    </a:p>
                  </a:txBody>
                  <a:tcPr marL="9525" marR="9525" marT="4763" marB="4763"/>
                </a:tc>
              </a:tr>
              <a:tr h="1701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6" b="0"/>
                        <a:t>liujin</a:t>
                      </a:r>
                    </a:p>
                  </a:txBody>
                  <a:tcPr marL="9525" marR="9525" marT="4763" marB="4763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6" b="0"/>
                        <a:t>DQN 控制器</a:t>
                      </a:r>
                    </a:p>
                    <a:p>
                      <a:pPr algn="ctr">
                        <a:buNone/>
                      </a:pPr>
                      <a:r>
                        <a:rPr sz="326" b="0"/>
                        <a:t>训练/权重</a:t>
                      </a:r>
                    </a:p>
                  </a:txBody>
                  <a:tcPr marL="9525" marR="9525" marT="4763" marB="4763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6" b="0"/>
                        <a:t>25%</a:t>
                      </a:r>
                    </a:p>
                  </a:txBody>
                  <a:tcPr marL="9525" marR="9525" marT="4763" marB="4763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6" b="0"/>
                        <a:t>合计</a:t>
                      </a:r>
                    </a:p>
                  </a:txBody>
                  <a:tcPr marL="9525" marR="9525" marT="4763" marB="4763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6" b="0"/>
                        <a:t>代码+报告+Demo</a:t>
                      </a:r>
                    </a:p>
                  </a:txBody>
                  <a:tcPr marL="9525" marR="9525" marT="4763" marB="4763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6" b="0"/>
                        <a:t>100%</a:t>
                      </a:r>
                    </a:p>
                  </a:txBody>
                  <a:tcPr marL="9525" marR="9525" marT="4763" marB="4763"/>
                </a:tc>
              </a:tr>
            </a:tbl>
          </a:graphicData>
        </a:graphic>
      </p:graphicFrame>
      <p:sp>
        <p:nvSpPr>
          <p:cNvPr id="34" name="Straight Connector 87">
            <a:extLst xmlns:a="http://schemas.openxmlformats.org/drawingml/2006/main">
              <a:ext uri="{FF2B5EF4-FFF2-40B4-BE49-F238E27FC236}">
                <a16:creationId xmlns:a16="http://schemas.microsoft.com/office/drawing/2014/main" id="{83AB985D-05B9-479E-8BEE-1C5F51F4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9168" y="6948273"/>
            <a:ext cx="7568565" cy="3175"/>
          </a:xfrm>
          <a:prstGeom xmlns:a="http://schemas.openxmlformats.org/drawingml/2006/main" prst="line">
            <a:avLst/>
          </a:prstGeom>
          <a:ln xmlns:a="http://schemas.openxmlformats.org/drawingml/2006/main" w="15875"/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TextBox 89">
            <a:extLst xmlns:a="http://schemas.openxmlformats.org/drawingml/2006/main">
              <a:ext uri="{FF2B5EF4-FFF2-40B4-BE49-F238E27FC236}">
                <a16:creationId xmlns:a16="http://schemas.microsoft.com/office/drawing/2014/main" id="{649EB8E4-75F8-4844-B657-2BB0E5C8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7" y="7042478"/>
            <a:ext cx="109728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7A1410"/>
                </a:solidFill>
              </a:rPr>
              <a:t>核心方法</a:t>
            </a:r>
          </a:p>
        </p:txBody>
      </p:sp>
      <p:sp>
        <p:nvSpPr>
          <p:cNvPr id="25" name="TextBox 92">
            <a:extLst xmlns:a="http://schemas.openxmlformats.org/drawingml/2006/main">
              <a:ext uri="{FF2B5EF4-FFF2-40B4-BE49-F238E27FC236}">
                <a16:creationId xmlns:a16="http://schemas.microsoft.com/office/drawing/2014/main" id="{4B34BB7B-1BE8-4815-8AC3-61B24CF7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3" y="8258175"/>
            <a:ext cx="7044023" cy="657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32" b="1">
                <a:latin typeface="微软雅黑"/>
                <a:ea typeface="微软雅黑"/>
                <a:cs typeface="微软雅黑"/>
              </a:rPr>
              <a:t>核心方法2: 虚拟瓶颈链路 - 有限 FIFO 队列 + 固定服务间隔模拟瓶颈；队列满直接丢弃，并支持传输中途带宽减半。</a:t>
            </a:r>
          </a:p>
        </p:txBody>
      </p:sp>
      <p:sp>
        <p:nvSpPr>
          <p:cNvPr id="38" name="TextBox 92">
            <a:extLst xmlns:a="http://schemas.openxmlformats.org/drawingml/2006/main">
              <a:ext uri="{FF2B5EF4-FFF2-40B4-BE49-F238E27FC236}">
                <a16:creationId xmlns:a16="http://schemas.microsoft.com/office/drawing/2014/main" id="{B9849B77-7C23-4DC3-8841-B75DB516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3" y="9105900"/>
            <a:ext cx="7044023" cy="657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32" b="1">
                <a:latin typeface="微软雅黑"/>
                <a:ea typeface="微软雅黑"/>
                <a:cs typeface="微软雅黑"/>
              </a:rPr>
              <a:t>核心方法3: AI 拥塞控制 - AIMD 作基线；Q-Learning 采用 6 状态 Q-Table，reward 显式重罚 timeout；DQN 用连续状态输出 CWND 乘数动作。</a:t>
            </a:r>
          </a:p>
        </p:txBody>
      </p:sp>
      <p:sp>
        <p:nvSpPr>
          <p:cNvPr id="39" name="TextBox 92">
            <a:extLst xmlns:a="http://schemas.openxmlformats.org/drawingml/2006/main">
              <a:ext uri="{FF2B5EF4-FFF2-40B4-BE49-F238E27FC236}">
                <a16:creationId xmlns:a16="http://schemas.microsoft.com/office/drawing/2014/main" id="{E23F2E81-43C5-46FC-B8B7-7229EC7B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97" y="10065982"/>
            <a:ext cx="79629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3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Demo: Run_Demo.command / python3 demo_runner.py</a:t>
            </a:r>
          </a:p>
        </p:txBody>
      </p:sp>
      <p:sp>
        <p:nvSpPr>
          <p:cNvPr id="4" name="TextBox 92">
            <a:extLst xmlns:a="http://schemas.openxmlformats.org/drawingml/2006/main">
              <a:ext uri="{FF2B5EF4-FFF2-40B4-BE49-F238E27FC236}">
                <a16:creationId xmlns:a16="http://schemas.microsoft.com/office/drawing/2014/main" id="{99D1CAC1-13A1-4751-857F-0B63360D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" y="9567545"/>
            <a:ext cx="7044055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5" i="1" u="sng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实验结论: AIMD 吞吐更高但 RTT 与重传更大；Q-Learning/DQN 更保守，能显著降低排队时延。正式训练建议 50-100 轮；自定义开放题未选。</a:t>
            </a:r>
          </a:p>
        </p:txBody>
      </p:sp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bdbce1abc4474"/>
          <a:stretch xmlns:a="http://schemas.openxmlformats.org/drawingml/2006/main"/>
        </p:blipFill>
        <p:spPr>
          <a:xfrm xmlns:a="http://schemas.openxmlformats.org/drawingml/2006/main">
            <a:off x="109347" y="4422140"/>
            <a:ext cx="3968496" cy="2204720"/>
          </a:xfrm>
          <a:prstGeom xmlns:a="http://schemas.openxmlformats.org/drawingml/2006/main" prst="rect">
            <a:avLst/>
          </a:prstGeom>
        </p:spPr>
      </p:pic>
      <p:pic>
        <p:nvPicPr>
          <p:cNvPr id="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3d4c624294122"/>
          <a:stretch xmlns:a="http://schemas.openxmlformats.org/drawingml/2006/main"/>
        </p:blipFill>
        <p:spPr>
          <a:xfrm xmlns:a="http://schemas.openxmlformats.org/drawingml/2006/main">
            <a:off x="3236608" y="2814943"/>
            <a:ext cx="1929466" cy="789327"/>
          </a:xfrm>
          <a:prstGeom xmlns:a="http://schemas.openxmlformats.org/drawingml/2006/main" prst="rect">
            <a:avLst/>
          </a:prstGeom>
        </p:spPr>
      </p:pic>
      <p:pic>
        <p:nvPicPr>
          <p:cNvPr id="1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280c036454b6f"/>
          <a:stretch xmlns:a="http://schemas.openxmlformats.org/drawingml/2006/main"/>
        </p:blipFill>
        <p:spPr>
          <a:xfrm xmlns:a="http://schemas.openxmlformats.org/drawingml/2006/main">
            <a:off x="5562431" y="2811145"/>
            <a:ext cx="1592580" cy="7962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9494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2026-06-07T07:30:55.9060000Z</dcterms:created>
  <dcterms:modified xsi:type="dcterms:W3CDTF">2026-06-07T07:30:55.9060000Z</dcterms:modified>
</coreProperties>
</file>